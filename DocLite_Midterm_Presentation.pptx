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182880" cy="4960620"/>
          </a:xfrm>
          <a:prstGeom prst="rect">
            <a:avLst/>
          </a:prstGeom>
          <a:solidFill>
            <a:srgbClr val="008E99"/>
          </a:solidFill>
          <a:ln w="12700">
            <a:solidFill>
              <a:srgbClr val="008E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548640"/>
            <a:ext cx="2743200" cy="2743200"/>
          </a:xfrm>
          <a:prstGeom prst="ellipse">
            <a:avLst/>
          </a:prstGeom>
          <a:solidFill>
            <a:srgbClr val="1A3260"/>
          </a:solidFill>
          <a:ln w="25400">
            <a:solidFill>
              <a:srgbClr val="00C2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1188720"/>
            <a:ext cx="1463040" cy="1463040"/>
          </a:xfrm>
          <a:prstGeom prst="ellipse">
            <a:avLst/>
          </a:prstGeom>
          <a:solidFill>
            <a:srgbClr val="00C2CB">
              <a:alpha val="35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63640" y="10972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LayoutLMv3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LiLT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DocLite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Compressing Document Understanding Models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Knowledge Distillation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127248"/>
            <a:ext cx="4114800" cy="36576"/>
          </a:xfrm>
          <a:prstGeom prst="rect">
            <a:avLst/>
          </a:prstGeom>
          <a:solidFill>
            <a:srgbClr val="00C2CB">
              <a:alpha val="65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Presentation  ·  Spring 2026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 + Q&amp;A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38160" y="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5074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F2044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98755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Document Models Are Too Heavy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LayoutLMv3</a:t>
            </a:r>
            <a:pPr algn="l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state-of-the-art for document understanding — but it has </a:t>
            </a:r>
            <a:pPr algn="l"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~125M parameters</a:t>
            </a:r>
            <a:pPr algn="l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requires expensive GPU hardware.
</a:t>
            </a:r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fuses three modalities:
</a:t>
            </a:r>
            <a:pPr algn="l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Text tokens (word embeddings)
</a:t>
            </a:r>
            <a:pPr algn="l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Layout (bounding box coordinates)
</a:t>
            </a:r>
            <a:pPr algn="l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Visual patch embeddings from images
</a:t>
            </a:r>
            <a:pPr algn="l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deployment at scale — in hospitals, law firms, or on edge devices — slow and prohibitively costly.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15000" y="914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0" y="1371600"/>
            <a:ext cx="3108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F204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5000" y="1371600"/>
            <a:ext cx="64008" cy="10515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14447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Healthcare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52160" y="179222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Digitizing patient intake forms — classify each word as a field label or value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15000" y="2560320"/>
            <a:ext cx="3108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F2044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15000" y="2560320"/>
            <a:ext cx="64008" cy="105156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263347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Legal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52160" y="298094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key fields from contracts and filings at scale, on CPU servers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15000" y="3749040"/>
            <a:ext cx="3108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F2044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15000" y="3749040"/>
            <a:ext cx="64008" cy="1051560"/>
          </a:xfrm>
          <a:prstGeom prst="rect">
            <a:avLst/>
          </a:prstGeom>
          <a:solidFill>
            <a:srgbClr val="0F9E6A"/>
          </a:solidFill>
          <a:ln w="12700">
            <a:solidFill>
              <a:srgbClr val="0F9E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382219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Finance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52160" y="416966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invoices and receipts on CPU-only edge devices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260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 ·  Who Benefits?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286000" cy="14630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914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~125M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LayoutLMv3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2286000" cy="2286000"/>
          </a:xfrm>
          <a:prstGeom prst="rect">
            <a:avLst/>
          </a:prstGeom>
          <a:solidFill>
            <a:srgbClr val="162B52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670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309067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solved.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cost is the real barrier.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822192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distillation lets a small model mimic a big one — at a fraction of the compute.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26080" y="914400"/>
            <a:ext cx="1828800" cy="3931920"/>
          </a:xfrm>
          <a:prstGeom prst="rect">
            <a:avLst/>
          </a:prstGeom>
          <a:solidFill>
            <a:srgbClr val="162B52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26080" y="914400"/>
            <a:ext cx="1828800" cy="12801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35808" y="1115568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Scale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35808" y="1783080"/>
            <a:ext cx="160934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documents per day require low-latency, low-cost inference that large models cannot provide.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65192" y="914400"/>
            <a:ext cx="1828800" cy="3931920"/>
          </a:xfrm>
          <a:prstGeom prst="rect">
            <a:avLst/>
          </a:prstGeom>
          <a:solidFill>
            <a:srgbClr val="162B52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65192" y="914400"/>
            <a:ext cx="1828800" cy="1280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1115568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Legal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74920" y="1783080"/>
            <a:ext cx="160934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 where document processing is core to operations, yet GPU clusters are unavailable or too costly.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004304" y="914400"/>
            <a:ext cx="1828800" cy="3931920"/>
          </a:xfrm>
          <a:prstGeom prst="rect">
            <a:avLst/>
          </a:prstGeom>
          <a:solidFill>
            <a:srgbClr val="162B52"/>
          </a:solidFill>
          <a:ln w="19050">
            <a:solidFill>
              <a:srgbClr val="0F9E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04304" y="914400"/>
            <a:ext cx="1828800" cy="128016"/>
          </a:xfrm>
          <a:prstGeom prst="rect">
            <a:avLst/>
          </a:prstGeom>
          <a:solidFill>
            <a:srgbClr val="0F9E6A"/>
          </a:solidFill>
          <a:ln w="12700">
            <a:solidFill>
              <a:srgbClr val="0F9E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14032" y="1115568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Mobile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14032" y="1783080"/>
            <a:ext cx="160934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GPU-less deployments: embedded systems, on-prem servers, and mobile devices all need lightweight models.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&amp; Our Approach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38160" y="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93192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  <a:effectLst>
            <a:outerShdw sx="100000" sy="100000" kx="0" ky="0" algn="bl" rotWithShape="0" blurRad="63500" dist="25400" dir="8100000">
              <a:srgbClr val="0F2044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3931920" cy="9144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332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3327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103327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Hinton et al.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13990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Distillation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70992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label matching: the student learns from the teacher's probability outputs (KL-divergence loss) rather than hard labels, preserving nuance.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17720" y="868680"/>
            <a:ext cx="393192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E99"/>
            </a:solidFill>
            <a:prstDash val="solid"/>
          </a:ln>
          <a:effectLst>
            <a:outerShdw sx="100000" sy="100000" kx="0" ky="0" algn="bl" rotWithShape="0" blurRad="63500" dist="25400" dir="8100000">
              <a:srgbClr val="0F2044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868680"/>
            <a:ext cx="3931920" cy="91440"/>
          </a:xfrm>
          <a:prstGeom prst="rect">
            <a:avLst/>
          </a:prstGeom>
          <a:solidFill>
            <a:srgbClr val="008E99"/>
          </a:solidFill>
          <a:ln w="12700">
            <a:solidFill>
              <a:srgbClr val="008E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0332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008E99"/>
          </a:solidFill>
          <a:ln w="12700">
            <a:solidFill>
              <a:srgbClr val="008E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03327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103327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TinyBERT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54880" y="13990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0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Layer-wise BERT Distillation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170992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distillation into intermediate layers — matching hidden states and attention maps in addition to output logits, giving richer supervision.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393192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06030"/>
            </a:solidFill>
            <a:prstDash val="solid"/>
          </a:ln>
          <a:effectLst>
            <a:outerShdw sx="100000" sy="100000" kx="0" ky="0" algn="bl" rotWithShape="0" blurRad="63500" dist="25400" dir="8100000">
              <a:srgbClr val="0F2044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834640"/>
            <a:ext cx="3931920" cy="91440"/>
          </a:xfrm>
          <a:prstGeom prst="rect">
            <a:avLst/>
          </a:prstGeom>
          <a:solidFill>
            <a:srgbClr val="E06030"/>
          </a:solidFill>
          <a:ln w="12700">
            <a:solidFill>
              <a:srgbClr val="E060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99923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E06030"/>
          </a:solidFill>
          <a:ln w="12700">
            <a:solidFill>
              <a:srgbClr val="E060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99923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80160" y="2999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LayoutLMv3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" y="33649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0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Research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367588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document model fusing text, layout (bounding boxes), and visual patches in a 12-layer transformer. Excellent accuracy, 125M parameters.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17720" y="2834640"/>
            <a:ext cx="393192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F9E6A"/>
            </a:solidFill>
            <a:prstDash val="solid"/>
          </a:ln>
          <a:effectLst>
            <a:outerShdw sx="100000" sy="100000" kx="0" ky="0" algn="bl" rotWithShape="0" blurRad="63500" dist="25400" dir="8100000">
              <a:srgbClr val="0F2044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2834640"/>
            <a:ext cx="3931920" cy="91440"/>
          </a:xfrm>
          <a:prstGeom prst="rect">
            <a:avLst/>
          </a:prstGeom>
          <a:solidFill>
            <a:srgbClr val="0F9E6A"/>
          </a:solidFill>
          <a:ln w="12700">
            <a:solidFill>
              <a:srgbClr val="0F9E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99923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0F9E6A"/>
          </a:solidFill>
          <a:ln w="12700">
            <a:solidFill>
              <a:srgbClr val="0F9E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99923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32120" y="29992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754880" y="33649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F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SCUT — Our Student Model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0" y="367588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text and layout encoders, making it smaller and more flexible than LayoutLMv3. No visual encoder — ideal distillation target.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DocLite (This Project, 2026): Applies TinyBERT-style distillation to compress LayoutLMv3 → LiLT using hidden-state MSE, attention MSE, and logits KL-divergence.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260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FUNSD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77724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Understanding in Scanned Documents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1920240" cy="1078992"/>
          </a:xfrm>
          <a:prstGeom prst="rect">
            <a:avLst/>
          </a:prstGeom>
          <a:solidFill>
            <a:srgbClr val="162B52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133856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331720"/>
            <a:ext cx="1920240" cy="1078992"/>
          </a:xfrm>
          <a:prstGeom prst="rect">
            <a:avLst/>
          </a:prstGeom>
          <a:solidFill>
            <a:srgbClr val="162B52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368296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11480" y="29900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566160"/>
            <a:ext cx="1920240" cy="1078992"/>
          </a:xfrm>
          <a:prstGeom prst="rect">
            <a:avLst/>
          </a:prstGeom>
          <a:solidFill>
            <a:srgbClr val="162B52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3602736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411480" y="42245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Types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06040" y="1097280"/>
            <a:ext cx="3017520" cy="3749040"/>
          </a:xfrm>
          <a:prstGeom prst="rect">
            <a:avLst/>
          </a:prstGeom>
          <a:solidFill>
            <a:srgbClr val="162B52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61488" y="1207008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Label Classes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761488" y="1664208"/>
            <a:ext cx="2706624" cy="694944"/>
          </a:xfrm>
          <a:prstGeom prst="rect">
            <a:avLst/>
          </a:prstGeom>
          <a:solidFill>
            <a:srgbClr val="0F2044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52928" y="1719072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852928" y="202996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"Suggestion:"   "Date:"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61488" y="2450592"/>
            <a:ext cx="2706624" cy="694944"/>
          </a:xfrm>
          <a:prstGeom prst="rect">
            <a:avLst/>
          </a:prstGeom>
          <a:solidFill>
            <a:srgbClr val="0F2044"/>
          </a:solidFill>
          <a:ln w="12700">
            <a:solidFill>
              <a:srgbClr val="0F9E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52928" y="2505456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852928" y="281635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"John Smith"   "01/15/2024"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61488" y="3236976"/>
            <a:ext cx="2706624" cy="694944"/>
          </a:xfrm>
          <a:prstGeom prst="rect">
            <a:avLst/>
          </a:prstGeom>
          <a:solidFill>
            <a:srgbClr val="0F2044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52928" y="329184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852928" y="360273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"Section 2"   "OVERVIEW"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61488" y="4023360"/>
            <a:ext cx="2706624" cy="694944"/>
          </a:xfrm>
          <a:prstGeom prst="rect">
            <a:avLst/>
          </a:prstGeom>
          <a:solidFill>
            <a:srgbClr val="0F2044"/>
          </a:solidFill>
          <a:ln w="12700">
            <a:solidFill>
              <a:srgbClr val="7A9C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52928" y="4078224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852928" y="438912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Borders, noise, misc.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52160" y="1097280"/>
            <a:ext cx="2971800" cy="3749040"/>
          </a:xfrm>
          <a:prstGeom prst="rect">
            <a:avLst/>
          </a:prstGeom>
          <a:solidFill>
            <a:srgbClr val="0A1628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998464" y="120700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JSON Annotation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998464" y="1691640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998464" y="1961388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7F6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"text": "Suggestion:",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998464" y="2231136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"label": "question",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998464" y="2500884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"box": [95, 355, 169, 370]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998464" y="2770632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998464" y="3040380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998464" y="3310128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7F6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"text": "Date:",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998464" y="3579876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"label": "question",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998464" y="3849624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"box": [482, 268, 518, 282]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998464" y="4119372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11480" y="482803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inherit their word's label. Only the first subword is labeled; the rest are masked (−100).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DocLite Distillation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38160" y="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65176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E06030"/>
            </a:solidFill>
            <a:prstDash val="solid"/>
          </a:ln>
          <a:effectLst>
            <a:outerShdw sx="100000" sy="100000" kx="0" ky="0" algn="bl" rotWithShape="0" blurRad="63500" dist="25400" dir="8100000">
              <a:srgbClr val="0F2044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2651760" cy="137160"/>
          </a:xfrm>
          <a:prstGeom prst="rect">
            <a:avLst/>
          </a:prstGeom>
          <a:solidFill>
            <a:srgbClr val="E06030"/>
          </a:solidFill>
          <a:ln w="12700">
            <a:solidFill>
              <a:srgbClr val="E060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789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E0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LayoutLMv3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938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125M parameters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395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12-layer transformer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852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Text + Layout + Vision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3101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Fine-tuned on FUNSD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767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Supervised CE loss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090672" y="2331720"/>
            <a:ext cx="50292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47872" y="2212848"/>
            <a:ext cx="91440" cy="2926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914400"/>
            <a:ext cx="2926080" cy="3520440"/>
          </a:xfrm>
          <a:prstGeom prst="rect">
            <a:avLst/>
          </a:prstGeom>
          <a:solidFill>
            <a:srgbClr val="ECF9FA"/>
          </a:solidFill>
          <a:ln w="25400">
            <a:solidFill>
              <a:srgbClr val="00C2CB"/>
            </a:solidFill>
            <a:prstDash val="solid"/>
          </a:ln>
          <a:effectLst>
            <a:outerShdw sx="100000" sy="100000" kx="0" ky="0" algn="bl" rotWithShape="0" blurRad="63500" dist="25400" dir="8100000">
              <a:srgbClr val="0F2044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914400"/>
            <a:ext cx="2926080" cy="1371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0789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00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LOSSES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83280" y="1536192"/>
            <a:ext cx="26517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008E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93008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 MSE  (α)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93008" y="18653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intermediate representations layer by layer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83280" y="2240280"/>
            <a:ext cx="26517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93008" y="22768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MSE  (β)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93008" y="25694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attention distributions across all heads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83280" y="2944368"/>
            <a:ext cx="26517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60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3008" y="29809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0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Logits KL-Div  (γ)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93008" y="327355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soft labels from teacher (temperature T)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83280" y="3648456"/>
            <a:ext cx="26517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0F9E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93008" y="3685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Loss  (δ)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493008" y="39776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supervised loss on ground-truth labels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09360" y="914400"/>
            <a:ext cx="265176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F9E6A"/>
            </a:solidFill>
            <a:prstDash val="solid"/>
          </a:ln>
          <a:effectLst>
            <a:outerShdw sx="100000" sy="100000" kx="0" ky="0" algn="bl" rotWithShape="0" blurRad="63500" dist="25400" dir="8100000">
              <a:srgbClr val="0F2044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914400"/>
            <a:ext cx="2651760" cy="137160"/>
          </a:xfrm>
          <a:prstGeom prst="rect">
            <a:avLst/>
          </a:prstGeom>
          <a:solidFill>
            <a:srgbClr val="0F9E6A"/>
          </a:solidFill>
          <a:ln w="12700">
            <a:solidFill>
              <a:srgbClr val="0F9E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10789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0F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46520" y="1463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LiLT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446520" y="19385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Smaller footprint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446520" y="23591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Decoupled text+layout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446520" y="27797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visual encoder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446520" y="32004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Layer mapper aligns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446520" y="36210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depth mismatch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446520" y="40416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Learns from teacher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solidFill>
            <a:srgbClr val="0F2044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Loss  =  α · HiddenMSE  +  β · AttentionMSE  +  γ · KL-Div  +  δ · CE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260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84124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Comparison on FUNSD Test Set (50 documents)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2834640" cy="4114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984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298448"/>
            <a:ext cx="2331720" cy="4114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2984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Signal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577840" y="1298448"/>
            <a:ext cx="1920240" cy="4114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2984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98080" y="1298448"/>
            <a:ext cx="1371600" cy="4114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12984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1709928"/>
            <a:ext cx="2834640" cy="566928"/>
          </a:xfrm>
          <a:prstGeom prst="rect">
            <a:avLst/>
          </a:prstGeom>
          <a:solidFill>
            <a:srgbClr val="162B52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1709928"/>
            <a:ext cx="64008" cy="566928"/>
          </a:xfrm>
          <a:prstGeom prst="rect">
            <a:avLst/>
          </a:prstGeom>
          <a:solidFill>
            <a:srgbClr val="E06030"/>
          </a:solidFill>
          <a:ln w="12700">
            <a:solidFill>
              <a:srgbClr val="E06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17099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0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LayoutLMv3 (fine-tuned)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46120" y="1709928"/>
            <a:ext cx="2331720" cy="566928"/>
          </a:xfrm>
          <a:prstGeom prst="rect">
            <a:avLst/>
          </a:prstGeom>
          <a:solidFill>
            <a:srgbClr val="162B52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70992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CE loss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577840" y="1709928"/>
            <a:ext cx="1920240" cy="566928"/>
          </a:xfrm>
          <a:prstGeom prst="rect">
            <a:avLst/>
          </a:prstGeom>
          <a:solidFill>
            <a:srgbClr val="162B52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17099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/ Upper Bound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498080" y="1709928"/>
            <a:ext cx="1371600" cy="566928"/>
          </a:xfrm>
          <a:prstGeom prst="rect">
            <a:avLst/>
          </a:prstGeom>
          <a:solidFill>
            <a:srgbClr val="162B52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17099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↗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11480" y="2331720"/>
            <a:ext cx="2834640" cy="566928"/>
          </a:xfrm>
          <a:prstGeom prst="rect">
            <a:avLst/>
          </a:prstGeom>
          <a:solidFill>
            <a:srgbClr val="0F2044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2331720"/>
            <a:ext cx="64008" cy="56692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" y="233172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LiLT (fine-tuned)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246120" y="2331720"/>
            <a:ext cx="2331720" cy="566928"/>
          </a:xfrm>
          <a:prstGeom prst="rect">
            <a:avLst/>
          </a:prstGeom>
          <a:solidFill>
            <a:srgbClr val="0F2044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23317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CE loss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577840" y="2331720"/>
            <a:ext cx="1920240" cy="566928"/>
          </a:xfrm>
          <a:prstGeom prst="rect">
            <a:avLst/>
          </a:prstGeom>
          <a:solidFill>
            <a:srgbClr val="0F2044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23317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Lower Bound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498080" y="2331720"/>
            <a:ext cx="1371600" cy="566928"/>
          </a:xfrm>
          <a:prstGeom prst="rect">
            <a:avLst/>
          </a:prstGeom>
          <a:solidFill>
            <a:srgbClr val="0F2044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0" y="23317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11480" y="2953512"/>
            <a:ext cx="2834640" cy="566928"/>
          </a:xfrm>
          <a:prstGeom prst="rect">
            <a:avLst/>
          </a:prstGeom>
          <a:solidFill>
            <a:srgbClr val="162B52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2953512"/>
            <a:ext cx="64008" cy="56692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" y="2953512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LiLT + DocLite  ★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246120" y="2953512"/>
            <a:ext cx="2331720" cy="566928"/>
          </a:xfrm>
          <a:prstGeom prst="rect">
            <a:avLst/>
          </a:prstGeom>
          <a:solidFill>
            <a:srgbClr val="162B52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37560" y="295351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 + CE loss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577840" y="2953512"/>
            <a:ext cx="1920240" cy="566928"/>
          </a:xfrm>
          <a:prstGeom prst="rect">
            <a:avLst/>
          </a:prstGeom>
          <a:solidFill>
            <a:srgbClr val="162B52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0" y="295351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498080" y="2953512"/>
            <a:ext cx="1371600" cy="566928"/>
          </a:xfrm>
          <a:prstGeom prst="rect">
            <a:avLst/>
          </a:prstGeom>
          <a:solidFill>
            <a:srgbClr val="162B52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89520" y="295351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11480" y="3657600"/>
            <a:ext cx="3931920" cy="1463040"/>
          </a:xfrm>
          <a:prstGeom prst="rect">
            <a:avLst/>
          </a:prstGeom>
          <a:solidFill>
            <a:srgbClr val="162B52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66928" y="3749040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566928" y="4133088"/>
            <a:ext cx="3621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Token-level Accuracy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Token-level Micro-F1  (primary)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Inference time &amp; model size  (secondary)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663440" y="3657600"/>
            <a:ext cx="4160520" cy="1463040"/>
          </a:xfrm>
          <a:prstGeom prst="rect">
            <a:avLst/>
          </a:prstGeom>
          <a:solidFill>
            <a:srgbClr val="162B52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828032" y="3749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Ablations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4828032" y="413308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Enable/disable hidden state loss  (α)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Enable/disable attention loss  (β)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Logits-only vs. full distillation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So Far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38160" y="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51663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F2044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98755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Components Built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1536192"/>
            <a:ext cx="256032" cy="256032"/>
          </a:xfrm>
          <a:prstGeom prst="ellipse">
            <a:avLst/>
          </a:prstGeom>
          <a:solidFill>
            <a:srgbClr val="0F9E6A"/>
          </a:solidFill>
          <a:ln w="12700">
            <a:solidFill>
              <a:srgbClr val="0F9E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36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1481328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FUNSD data loader with tokenization &amp; bounding box alignment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2020824"/>
            <a:ext cx="256032" cy="256032"/>
          </a:xfrm>
          <a:prstGeom prst="ellipse">
            <a:avLst/>
          </a:prstGeom>
          <a:solidFill>
            <a:srgbClr val="0F9E6A"/>
          </a:solidFill>
          <a:ln w="12700">
            <a:solidFill>
              <a:srgbClr val="0F9E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20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2688" y="1965960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(LayoutLMv3) &amp; student (LiLT) model wrappers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" y="2505456"/>
            <a:ext cx="256032" cy="256032"/>
          </a:xfrm>
          <a:prstGeom prst="ellipse">
            <a:avLst/>
          </a:prstGeom>
          <a:solidFill>
            <a:srgbClr val="0F9E6A"/>
          </a:solidFill>
          <a:ln w="12700">
            <a:solidFill>
              <a:srgbClr val="0F9E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505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2688" y="2450592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distillation losses: hidden MSE, attention MSE, logits KL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2990088"/>
            <a:ext cx="256032" cy="256032"/>
          </a:xfrm>
          <a:prstGeom prst="ellipse">
            <a:avLst/>
          </a:prstGeom>
          <a:solidFill>
            <a:srgbClr val="0F9E6A"/>
          </a:solidFill>
          <a:ln w="12700">
            <a:solidFill>
              <a:srgbClr val="0F9E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990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2688" y="2935224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mapper to handle teacher/student depth mismatch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94360" y="3474720"/>
            <a:ext cx="256032" cy="256032"/>
          </a:xfrm>
          <a:prstGeom prst="ellipse">
            <a:avLst/>
          </a:prstGeom>
          <a:solidFill>
            <a:srgbClr val="0F9E6A"/>
          </a:solidFill>
          <a:ln w="12700">
            <a:solidFill>
              <a:srgbClr val="0F9E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474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2688" y="3419856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token-level accuracy + micro-F1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94360" y="3959352"/>
            <a:ext cx="256032" cy="256032"/>
          </a:xfrm>
          <a:prstGeom prst="ellipse">
            <a:avLst/>
          </a:prstGeom>
          <a:solidFill>
            <a:srgbClr val="0F9E6A"/>
          </a:solidFill>
          <a:ln w="12700">
            <a:solidFill>
              <a:srgbClr val="0F9E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32688" y="3904488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Checkpointing: per-epoch + best-by-F1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94360" y="4443984"/>
            <a:ext cx="256032" cy="256032"/>
          </a:xfrm>
          <a:prstGeom prst="ellipse">
            <a:avLst/>
          </a:prstGeom>
          <a:solidFill>
            <a:srgbClr val="0F9E6A"/>
          </a:solidFill>
          <a:ln w="12700">
            <a:solidFill>
              <a:srgbClr val="0F9E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443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2688" y="4389120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check_*.py validation scripts pass ✓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806440" y="868680"/>
            <a:ext cx="3017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F2044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61888" y="969264"/>
            <a:ext cx="2706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Scripts Ready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961888" y="1426464"/>
            <a:ext cx="2706624" cy="384048"/>
          </a:xfrm>
          <a:prstGeom prst="rect">
            <a:avLst/>
          </a:prstGeom>
          <a:solidFill>
            <a:srgbClr val="EDF6FF"/>
          </a:solidFill>
          <a:ln w="12700">
            <a:solidFill>
              <a:srgbClr val="B8D4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53328" y="144475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8E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train_layoutlmv3_baseline.py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053328" y="1655064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supervised (upper bound)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61888" y="1874520"/>
            <a:ext cx="2706624" cy="384048"/>
          </a:xfrm>
          <a:prstGeom prst="rect">
            <a:avLst/>
          </a:prstGeom>
          <a:solidFill>
            <a:srgbClr val="EDF6FF"/>
          </a:solidFill>
          <a:ln w="12700">
            <a:solidFill>
              <a:srgbClr val="B8D4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53328" y="189280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8E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train_lilt_baseline.py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053328" y="2103120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supervised (lower bound)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61888" y="2322576"/>
            <a:ext cx="2706624" cy="384048"/>
          </a:xfrm>
          <a:prstGeom prst="rect">
            <a:avLst/>
          </a:prstGeom>
          <a:solidFill>
            <a:srgbClr val="EDF6FF"/>
          </a:solidFill>
          <a:ln w="12700">
            <a:solidFill>
              <a:srgbClr val="B8D4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53328" y="2340864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8E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train_funsd_distill.py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053328" y="2551176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pipeline (DocLite)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806440" y="2926080"/>
            <a:ext cx="3017520" cy="2103120"/>
          </a:xfrm>
          <a:prstGeom prst="rect">
            <a:avLst/>
          </a:prstGeom>
          <a:solidFill>
            <a:srgbClr val="FFF8E6"/>
          </a:solidFill>
          <a:ln w="25400">
            <a:solidFill>
              <a:srgbClr val="E59400"/>
            </a:solidFill>
            <a:prstDash val="solid"/>
          </a:ln>
          <a:effectLst>
            <a:outerShdw sx="100000" sy="100000" kx="0" ky="0" algn="bl" rotWithShape="0" blurRad="63500" dist="25400" dir="8100000">
              <a:srgbClr val="0F2044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806440" y="2926080"/>
            <a:ext cx="3017520" cy="128016"/>
          </a:xfrm>
          <a:prstGeom prst="rect">
            <a:avLst/>
          </a:prstGeom>
          <a:solidFill>
            <a:srgbClr val="E59400"/>
          </a:solidFill>
          <a:ln w="12700">
            <a:solidFill>
              <a:srgbClr val="E594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61888" y="3090672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59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961888" y="3493008"/>
            <a:ext cx="27066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complete &amp; validated.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runs executed yet — no results numbers.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kick off all three baseline training runs.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260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633472" cy="1901952"/>
          </a:xfrm>
          <a:prstGeom prst="rect">
            <a:avLst/>
          </a:prstGeom>
          <a:solidFill>
            <a:srgbClr val="162B52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2633472" cy="10972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" y="1078992"/>
            <a:ext cx="420624" cy="420624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078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09728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Baselines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" y="1572768"/>
            <a:ext cx="23774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all three training scripts; record F1 for teacher, student baseline, and distilled model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227832" y="914400"/>
            <a:ext cx="2633472" cy="1901952"/>
          </a:xfrm>
          <a:prstGeom prst="rect">
            <a:avLst/>
          </a:prstGeom>
          <a:solidFill>
            <a:srgbClr val="162B52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914400"/>
            <a:ext cx="2633472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55848" y="1078992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078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67912" y="109728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Ablate Losses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55848" y="1572768"/>
            <a:ext cx="23774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α/β/γ independently to isolate each loss component's contribution to final F1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089904" y="914400"/>
            <a:ext cx="2633472" cy="1901952"/>
          </a:xfrm>
          <a:prstGeom prst="rect">
            <a:avLst/>
          </a:prstGeom>
          <a:solidFill>
            <a:srgbClr val="162B52"/>
          </a:solidFill>
          <a:ln w="19050">
            <a:solidFill>
              <a:srgbClr val="0F9E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9904" y="914400"/>
            <a:ext cx="2633472" cy="109728"/>
          </a:xfrm>
          <a:prstGeom prst="rect">
            <a:avLst/>
          </a:prstGeom>
          <a:solidFill>
            <a:srgbClr val="0F9E6A"/>
          </a:solidFill>
          <a:ln w="12700">
            <a:solidFill>
              <a:srgbClr val="0F9E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078992"/>
            <a:ext cx="420624" cy="420624"/>
          </a:xfrm>
          <a:prstGeom prst="ellipse">
            <a:avLst/>
          </a:prstGeom>
          <a:solidFill>
            <a:srgbClr val="0F9E6A"/>
          </a:solidFill>
          <a:ln w="12700">
            <a:solidFill>
              <a:srgbClr val="0F9E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078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29984" y="109728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Hyperparams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17920" y="1572768"/>
            <a:ext cx="23774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temperature T, loss weights α/β/γ/δ, and learning rate for optimal distillation recipe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365760" y="3017520"/>
            <a:ext cx="2633472" cy="1901952"/>
          </a:xfrm>
          <a:prstGeom prst="rect">
            <a:avLst/>
          </a:prstGeom>
          <a:solidFill>
            <a:srgbClr val="162B52"/>
          </a:solidFill>
          <a:ln w="19050">
            <a:solidFill>
              <a:srgbClr val="E06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017520"/>
            <a:ext cx="2633472" cy="109728"/>
          </a:xfrm>
          <a:prstGeom prst="rect">
            <a:avLst/>
          </a:prstGeom>
          <a:solidFill>
            <a:srgbClr val="E06030"/>
          </a:solidFill>
          <a:ln w="12700">
            <a:solidFill>
              <a:srgbClr val="E0603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" y="3182112"/>
            <a:ext cx="420624" cy="420624"/>
          </a:xfrm>
          <a:prstGeom prst="ellipse">
            <a:avLst/>
          </a:prstGeom>
          <a:solidFill>
            <a:srgbClr val="E06030"/>
          </a:solidFill>
          <a:ln w="12700">
            <a:solidFill>
              <a:srgbClr val="E060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" y="3182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320040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06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Efficiency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93776" y="3675888"/>
            <a:ext cx="23774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inference time and parameter count; quantify the accuracy–efficiency tradeoff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3227832" y="3017520"/>
            <a:ext cx="2633472" cy="1901952"/>
          </a:xfrm>
          <a:prstGeom prst="rect">
            <a:avLst/>
          </a:prstGeom>
          <a:solidFill>
            <a:srgbClr val="162B52"/>
          </a:solidFill>
          <a:ln w="19050">
            <a:solidFill>
              <a:srgbClr val="4A6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27832" y="3017520"/>
            <a:ext cx="2633472" cy="10972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55848" y="3182112"/>
            <a:ext cx="420624" cy="42062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55848" y="3182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867912" y="320040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3355848" y="3675888"/>
            <a:ext cx="23774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test on CORD (receipts) or DocVQA to see if distillation generalizes beyond FUNSD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6089904" y="3017520"/>
            <a:ext cx="2633472" cy="1901952"/>
          </a:xfrm>
          <a:prstGeom prst="rect">
            <a:avLst/>
          </a:prstGeom>
          <a:solidFill>
            <a:srgbClr val="162B52"/>
          </a:solidFill>
          <a:ln w="19050">
            <a:solidFill>
              <a:srgbClr val="7A9C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9904" y="3017520"/>
            <a:ext cx="2633472" cy="109728"/>
          </a:xfrm>
          <a:prstGeom prst="rect">
            <a:avLst/>
          </a:prstGeom>
          <a:solidFill>
            <a:srgbClr val="7A9CC0"/>
          </a:solidFill>
          <a:ln w="12700">
            <a:solidFill>
              <a:srgbClr val="7A9CC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7920" y="3182112"/>
            <a:ext cx="420624" cy="420624"/>
          </a:xfrm>
          <a:prstGeom prst="ellipse">
            <a:avLst/>
          </a:prstGeom>
          <a:solidFill>
            <a:srgbClr val="7A9CC0"/>
          </a:solidFill>
          <a:ln w="12700">
            <a:solidFill>
              <a:srgbClr val="7A9C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3182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29984" y="320040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Up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217920" y="3675888"/>
            <a:ext cx="23774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results, ablations, and analysis into the final project report for submission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182880" cy="4960620"/>
          </a:xfrm>
          <a:prstGeom prst="rect">
            <a:avLst/>
          </a:prstGeom>
          <a:solidFill>
            <a:srgbClr val="008E99"/>
          </a:solidFill>
          <a:ln w="12700">
            <a:solidFill>
              <a:srgbClr val="008E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286000" y="2788920"/>
            <a:ext cx="4572000" cy="45720"/>
          </a:xfrm>
          <a:prstGeom prst="rect">
            <a:avLst/>
          </a:prstGeom>
          <a:solidFill>
            <a:srgbClr val="00C2CB">
              <a:alpha val="60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44368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"Big document models work great but are too slow to deploy.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i="1" dirty="0">
                <a:solidFill>
                  <a:srgbClr val="C7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compress LayoutLMv3 into LiLT using knowledge distillation."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DocLite  ·  LayoutLMv3  ·  LiLT  ·  FUNSD  ·  Knowledge Distillation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DocLite: Knowledge Distillation for Document Understanding</dc:title>
  <dc:subject>PptxGenJS Presentation</dc:subject>
  <dc:creator>DocLite Team</dc:creator>
  <cp:lastModifiedBy>DocLite Team</cp:lastModifiedBy>
  <cp:revision>1</cp:revision>
  <dcterms:created xsi:type="dcterms:W3CDTF">2026-03-20T18:19:42Z</dcterms:created>
  <dcterms:modified xsi:type="dcterms:W3CDTF">2026-03-20T18:19:42Z</dcterms:modified>
</cp:coreProperties>
</file>